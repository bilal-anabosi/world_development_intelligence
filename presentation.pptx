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731520"/>
            <a:ext cx="10789920" cy="5257800"/>
          </a:xfrm>
          <a:prstGeom prst="roundRect">
            <a:avLst>
              <a:gd name="adj" fmla="val 2783"/>
            </a:avLst>
          </a:prstGeom>
          <a:solidFill>
            <a:srgbClr val="0B1A33">
              <a:alpha val="94000"/>
            </a:srgbClr>
          </a:solidFill>
          <a:ln w="15240">
            <a:solidFill>
              <a:srgbClr val="2B4B73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987552"/>
            <a:ext cx="2057400" cy="301752"/>
          </a:xfrm>
          <a:prstGeom prst="roundRect">
            <a:avLst>
              <a:gd name="adj" fmla="val 21212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37844"/>
            <a:ext cx="2057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DATA MINING FINAL PROJECT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603504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 Development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896112" y="2852928"/>
            <a:ext cx="58521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C"/>
                </a:solidFill>
              </a:rPr>
              <a:t>A country-level analytics platform that turns global indicators into clusters, PCA maps, anomalies, trends, rules, and a final readable intelligence report.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06640" y="1097280"/>
            <a:ext cx="3337560" cy="2926080"/>
          </a:xfrm>
          <a:prstGeom prst="roundRect">
            <a:avLst>
              <a:gd name="adj" fmla="val 2500"/>
            </a:avLst>
          </a:prstGeom>
          <a:solidFill>
            <a:srgbClr val="0E2446"/>
          </a:solidFill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35331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2D3EE"/>
                </a:solidFill>
              </a:rPr>
              <a:t>Group 11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35240" y="1883664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90AE"/>
                </a:solidFill>
              </a:rPr>
              <a:t>Leader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35240" y="20939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Bilal Anabosi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35240" y="2651760"/>
            <a:ext cx="2834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890AE"/>
                </a:solidFill>
              </a:rPr>
              <a:t>Members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35240" y="2880360"/>
            <a:ext cx="2834640" cy="7315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</a:rPr>
              <a:t>Bilal Anabosi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</a:rPr>
              <a:t>Mohammad Sayeh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</a:rPr>
              <a:t>Yaqoob Hanbali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0" y="4617720"/>
            <a:ext cx="603504" cy="60350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82496" y="4828032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API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487168" y="4919472"/>
            <a:ext cx="502920" cy="0"/>
          </a:xfrm>
          <a:prstGeom prst="line">
            <a:avLst/>
          </a:prstGeom>
          <a:noFill/>
          <a:ln w="1651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063240" y="4617720"/>
            <a:ext cx="603504" cy="6035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6936" y="4828032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CSV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21608" y="4919472"/>
            <a:ext cx="502920" cy="0"/>
          </a:xfrm>
          <a:prstGeom prst="line">
            <a:avLst/>
          </a:prstGeom>
          <a:noFill/>
          <a:ln w="1651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97680" y="4617720"/>
            <a:ext cx="603504" cy="60350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51376" y="4828032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ML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956048" y="4919472"/>
            <a:ext cx="502920" cy="0"/>
          </a:xfrm>
          <a:prstGeom prst="line">
            <a:avLst/>
          </a:prstGeom>
          <a:noFill/>
          <a:ln w="1651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32120" y="4617720"/>
            <a:ext cx="603504" cy="60350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4828032"/>
            <a:ext cx="89611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LLM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00:00–06:00 STRUCTURE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Designed to fit a 6-minute limit: 2 minutes per member.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1362456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47218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25880" y="13990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Problem + system workflow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89120" y="139903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7DC"/>
                </a:solidFill>
              </a:rPr>
              <a:t>Why the project exists and how data moves through the app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372600" y="1348740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3990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Bilal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899648" y="1380744"/>
            <a:ext cx="786384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7890AE"/>
                </a:solidFill>
              </a:rPr>
              <a:t>0:00–0:55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758952" y="2112264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221992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325880" y="21488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Data building + preprocessing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0" y="214884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7DC"/>
                </a:solidFill>
              </a:rPr>
              <a:t>API/CSV collection, upload, validation, and 8-step preparation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2098548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214884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Yaqoob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899648" y="2130552"/>
            <a:ext cx="786384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7890AE"/>
                </a:solidFill>
              </a:rPr>
              <a:t>0:55–2:00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758952" y="2862072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971800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25880" y="28986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Clustering + PCA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89120" y="289864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7DC"/>
                </a:solidFill>
              </a:rPr>
              <a:t>K-Means, DBSCAN, hierarchical clustering, parameter selection, PCA maps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372600" y="2848356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289864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Bilal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899648" y="2880360"/>
            <a:ext cx="786384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7890AE"/>
                </a:solidFill>
              </a:rPr>
              <a:t>2:00–3:10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58952" y="3611880"/>
            <a:ext cx="384048" cy="38404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37216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325880" y="364845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Anomaly + association rules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89120" y="364845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7DC"/>
                </a:solidFill>
              </a:rPr>
              <a:t>Isolation Forest, LOF, hybrid scoring, Apriori insights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372600" y="3598164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72600" y="364845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Mohammad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899648" y="3630168"/>
            <a:ext cx="786384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7890AE"/>
                </a:solidFill>
              </a:rPr>
              <a:t>3:10–4:35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758952" y="4361688"/>
            <a:ext cx="384048" cy="38404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471416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5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325880" y="4398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Time series + final report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389120" y="4398264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7DC"/>
                </a:solidFill>
              </a:rPr>
              <a:t>ARIMA forecasts and LLM country intelligence report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372600" y="4347972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72600" y="4398264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Yaqoob + Bilal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899648" y="4379976"/>
            <a:ext cx="786384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7890AE"/>
                </a:solidFill>
              </a:rPr>
              <a:t>4:35–5:35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758952" y="5111496"/>
            <a:ext cx="384048" cy="38404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" y="5221224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6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325880" y="514807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Limitations + future work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389120" y="514807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B8C7DC"/>
                </a:solidFill>
              </a:rPr>
              <a:t>What can be improved and what makes the project strong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372600" y="5097780"/>
            <a:ext cx="1417320" cy="301752"/>
          </a:xfrm>
          <a:prstGeom prst="roundRect">
            <a:avLst>
              <a:gd name="adj" fmla="val 21212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514807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All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899648" y="5129784"/>
            <a:ext cx="786384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7890AE"/>
                </a:solidFill>
              </a:rPr>
              <a:t>5:35–6:00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GOAL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indicators to decision-ready insight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The project is not only charts; it is an end-to-end data mining workflow.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0992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7171"/>
                </a:solidFill>
              </a:rPr>
              <a:t>Problem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2057400"/>
            <a:ext cx="2788920" cy="12801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</a:rPr>
              <a:t>Global development data is high-dimensional, messy, and hard to compare manually. Users need a simple way to see which countries are similar, unusual, improving, or connected by indicator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70992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Input 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45152" y="2084832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API-built panel: countries × years × indicators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5152" y="248716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CSV upload for user datasets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45152" y="2889504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Country, code, year, and development indicators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45152" y="3291840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Preprocessed matrix for algorithms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70992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</a:rPr>
              <a:t>Output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94192" y="20848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Country clusters and similarity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94192" y="24871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PCA development maps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94192" y="28895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Anomaly flags and explanations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94192" y="329184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Association rules and patterns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94192" y="369417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Time-series forecasts and final report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Bilal · ~35 sec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WORKFLOW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System Workflow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67055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Two entry points feed one preprocessing pipeline, then multiple mining modules meet in the final country report.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2283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0F2A4B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grpSp>
        <p:nvGrpSpPr>
          <p:cNvPr id="58" name="Group 57"/>
          <p:cNvGrpSpPr/>
          <p:nvPr/>
        </p:nvGrpSpPr>
        <p:grpSpPr>
          <a:xfrm>
            <a:off x="731520" y="2514600"/>
            <a:ext cx="1691640" cy="474980"/>
            <a:chOff x="1296" y="2563"/>
            <a:chExt cx="2664" cy="748"/>
          </a:xfrm>
        </p:grpSpPr>
        <p:sp>
          <p:nvSpPr>
            <p:cNvPr id="10" name="Text 8"/>
            <p:cNvSpPr/>
            <p:nvPr/>
          </p:nvSpPr>
          <p:spPr>
            <a:xfrm>
              <a:off x="1296" y="2563"/>
              <a:ext cx="266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60A5FA"/>
                  </a:solidFill>
                </a:rPr>
                <a:t>Build Dataset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96" y="3053"/>
              <a:ext cx="2520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80" dirty="0">
                  <a:solidFill>
                    <a:srgbClr val="B8C7DC"/>
                  </a:solidFill>
                </a:rPr>
                <a:t>World Bank/API + CSV mode</a:t>
              </a:r>
              <a:endParaRPr lang="en-US" sz="780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502920" y="3740150"/>
            <a:ext cx="2148840" cy="960120"/>
            <a:chOff x="936" y="4392"/>
            <a:chExt cx="3384" cy="1512"/>
          </a:xfrm>
        </p:grpSpPr>
        <p:sp>
          <p:nvSpPr>
            <p:cNvPr id="12" name="Shape 10"/>
            <p:cNvSpPr/>
            <p:nvPr/>
          </p:nvSpPr>
          <p:spPr>
            <a:xfrm>
              <a:off x="936" y="4392"/>
              <a:ext cx="3384" cy="1512"/>
            </a:xfrm>
            <a:prstGeom prst="roundRect">
              <a:avLst>
                <a:gd name="adj" fmla="val 7619"/>
              </a:avLst>
            </a:prstGeom>
            <a:solidFill>
              <a:srgbClr val="0F2A4B"/>
            </a:solidFill>
            <a:ln w="12700">
              <a:solidFill>
                <a:srgbClr val="34D399">
                  <a:alpha val="90000"/>
                </a:srgbClr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296" y="4723"/>
              <a:ext cx="266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34D399"/>
                  </a:solidFill>
                </a:rPr>
                <a:t>Upload Dataset</a:t>
              </a:r>
              <a:endParaRPr lang="en-US" sz="11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296" y="5213"/>
              <a:ext cx="2520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80" dirty="0">
                  <a:solidFill>
                    <a:srgbClr val="B8C7DC"/>
                  </a:solidFill>
                </a:rPr>
                <a:t>User CSV with validation</a:t>
              </a:r>
              <a:endParaRPr lang="en-US" sz="780" dirty="0"/>
            </a:p>
          </p:txBody>
        </p:sp>
      </p:grpSp>
      <p:sp>
        <p:nvSpPr>
          <p:cNvPr id="15" name="Shape 13"/>
          <p:cNvSpPr/>
          <p:nvPr/>
        </p:nvSpPr>
        <p:spPr>
          <a:xfrm>
            <a:off x="3310255" y="2971927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32B4F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grpSp>
        <p:nvGrpSpPr>
          <p:cNvPr id="57" name="Group 56"/>
          <p:cNvGrpSpPr/>
          <p:nvPr/>
        </p:nvGrpSpPr>
        <p:grpSpPr>
          <a:xfrm>
            <a:off x="3515995" y="3228340"/>
            <a:ext cx="1828800" cy="511937"/>
            <a:chOff x="5681" y="3831"/>
            <a:chExt cx="2880" cy="806"/>
          </a:xfrm>
        </p:grpSpPr>
        <p:sp>
          <p:nvSpPr>
            <p:cNvPr id="16" name="Text 14"/>
            <p:cNvSpPr/>
            <p:nvPr/>
          </p:nvSpPr>
          <p:spPr>
            <a:xfrm>
              <a:off x="5681" y="3831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2D3EE"/>
                  </a:solidFill>
                </a:rPr>
                <a:t>Preprocessing</a:t>
              </a:r>
              <a:endParaRPr lang="en-US" sz="11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681" y="4378"/>
              <a:ext cx="2736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40" dirty="0">
                  <a:solidFill>
                    <a:srgbClr val="B8C7DC"/>
                  </a:solidFill>
                </a:rPr>
                <a:t>clean • scale • encode • validate</a:t>
              </a:r>
              <a:endParaRPr lang="en-US" sz="74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2651760" y="2834767"/>
            <a:ext cx="658368" cy="585216"/>
          </a:xfrm>
          <a:prstGeom prst="line">
            <a:avLst/>
          </a:prstGeom>
          <a:noFill/>
          <a:ln w="2159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 rot="17640000">
            <a:off x="2467610" y="3798570"/>
            <a:ext cx="1027430" cy="263525"/>
          </a:xfrm>
          <a:prstGeom prst="line">
            <a:avLst/>
          </a:prstGeom>
          <a:noFill/>
          <a:ln w="21590">
            <a:solidFill>
              <a:srgbClr val="34D399"/>
            </a:solidFill>
            <a:prstDash val="solid"/>
            <a:headEnd type="none"/>
            <a:tailEnd type="triangle"/>
          </a:ln>
        </p:spPr>
      </p:sp>
      <p:grpSp>
        <p:nvGrpSpPr>
          <p:cNvPr id="50" name="Group 49"/>
          <p:cNvGrpSpPr/>
          <p:nvPr/>
        </p:nvGrpSpPr>
        <p:grpSpPr>
          <a:xfrm>
            <a:off x="6363970" y="1271270"/>
            <a:ext cx="2148840" cy="895350"/>
            <a:chOff x="10296" y="1325"/>
            <a:chExt cx="3384" cy="1410"/>
          </a:xfrm>
        </p:grpSpPr>
        <p:sp>
          <p:nvSpPr>
            <p:cNvPr id="20" name="Shape 18"/>
            <p:cNvSpPr/>
            <p:nvPr/>
          </p:nvSpPr>
          <p:spPr>
            <a:xfrm>
              <a:off x="10296" y="1325"/>
              <a:ext cx="3384" cy="1411"/>
            </a:xfrm>
            <a:prstGeom prst="roundRect">
              <a:avLst>
                <a:gd name="adj" fmla="val 8163"/>
              </a:avLst>
            </a:prstGeom>
            <a:solidFill>
              <a:srgbClr val="11213C"/>
            </a:solidFill>
            <a:ln w="12700">
              <a:solidFill>
                <a:srgbClr val="A78BFA">
                  <a:alpha val="75000"/>
                </a:srgbClr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0526" y="1642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A78BFA"/>
                  </a:solidFill>
                </a:rPr>
                <a:t>Clustering</a:t>
              </a:r>
              <a:endParaRPr lang="en-US" sz="11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0555" y="2131"/>
              <a:ext cx="2851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20" dirty="0">
                  <a:solidFill>
                    <a:srgbClr val="B8C7DC"/>
                  </a:solidFill>
                </a:rPr>
                <a:t>K-Means • DBSCAN • Hierarchical</a:t>
              </a:r>
              <a:endParaRPr lang="en-US" sz="720" dirty="0"/>
            </a:p>
          </p:txBody>
        </p:sp>
      </p:grpSp>
      <p:sp>
        <p:nvSpPr>
          <p:cNvPr id="23" name="Shape 21"/>
          <p:cNvSpPr/>
          <p:nvPr/>
        </p:nvSpPr>
        <p:spPr>
          <a:xfrm rot="14880000">
            <a:off x="5519420" y="1818640"/>
            <a:ext cx="848995" cy="1132840"/>
          </a:xfrm>
          <a:prstGeom prst="line">
            <a:avLst/>
          </a:prstGeom>
          <a:noFill/>
          <a:ln w="15875">
            <a:solidFill>
              <a:srgbClr val="A78BFA"/>
            </a:solidFill>
            <a:prstDash val="solid"/>
            <a:headEnd type="none"/>
            <a:tailEnd type="triangle"/>
          </a:ln>
        </p:spPr>
      </p:sp>
      <p:grpSp>
        <p:nvGrpSpPr>
          <p:cNvPr id="51" name="Group 50"/>
          <p:cNvGrpSpPr/>
          <p:nvPr/>
        </p:nvGrpSpPr>
        <p:grpSpPr>
          <a:xfrm>
            <a:off x="6345555" y="2350135"/>
            <a:ext cx="2148840" cy="895350"/>
            <a:chOff x="14184" y="1325"/>
            <a:chExt cx="3384" cy="1410"/>
          </a:xfrm>
        </p:grpSpPr>
        <p:sp>
          <p:nvSpPr>
            <p:cNvPr id="24" name="Shape 22"/>
            <p:cNvSpPr/>
            <p:nvPr/>
          </p:nvSpPr>
          <p:spPr>
            <a:xfrm>
              <a:off x="14184" y="1325"/>
              <a:ext cx="3384" cy="1411"/>
            </a:xfrm>
            <a:prstGeom prst="roundRect">
              <a:avLst>
                <a:gd name="adj" fmla="val 8163"/>
              </a:avLst>
            </a:prstGeom>
            <a:solidFill>
              <a:srgbClr val="11213C"/>
            </a:solidFill>
            <a:ln w="12700">
              <a:solidFill>
                <a:srgbClr val="60A5FA">
                  <a:alpha val="75000"/>
                </a:srgbClr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14443" y="1598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60A5FA"/>
                  </a:solidFill>
                </a:rPr>
                <a:t>PCA</a:t>
              </a:r>
              <a:endParaRPr lang="en-US" sz="11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4443" y="2131"/>
              <a:ext cx="2851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20" dirty="0">
                  <a:solidFill>
                    <a:srgbClr val="B8C7DC"/>
                  </a:solidFill>
                </a:rPr>
                <a:t>2D/3D maps • biplot</a:t>
              </a:r>
              <a:endParaRPr lang="en-US" sz="72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8512810" y="2635885"/>
            <a:ext cx="703580" cy="1021715"/>
          </a:xfrm>
          <a:prstGeom prst="line">
            <a:avLst/>
          </a:prstGeom>
          <a:noFill/>
          <a:ln w="15875">
            <a:solidFill>
              <a:srgbClr val="60A5FA"/>
            </a:solidFill>
            <a:prstDash val="solid"/>
            <a:headEnd type="none"/>
            <a:tailEnd type="triangle"/>
          </a:ln>
        </p:spPr>
      </p:sp>
      <p:grpSp>
        <p:nvGrpSpPr>
          <p:cNvPr id="52" name="Group 51"/>
          <p:cNvGrpSpPr/>
          <p:nvPr/>
        </p:nvGrpSpPr>
        <p:grpSpPr>
          <a:xfrm>
            <a:off x="6363970" y="3438525"/>
            <a:ext cx="2148840" cy="895350"/>
            <a:chOff x="10296" y="3960"/>
            <a:chExt cx="3384" cy="1410"/>
          </a:xfrm>
        </p:grpSpPr>
        <p:sp>
          <p:nvSpPr>
            <p:cNvPr id="28" name="Shape 26"/>
            <p:cNvSpPr/>
            <p:nvPr/>
          </p:nvSpPr>
          <p:spPr>
            <a:xfrm>
              <a:off x="10296" y="3960"/>
              <a:ext cx="3384" cy="1411"/>
            </a:xfrm>
            <a:prstGeom prst="roundRect">
              <a:avLst>
                <a:gd name="adj" fmla="val 8163"/>
              </a:avLst>
            </a:prstGeom>
            <a:solidFill>
              <a:srgbClr val="11213C"/>
            </a:solidFill>
            <a:ln w="12700">
              <a:solidFill>
                <a:srgbClr val="F87171">
                  <a:alpha val="75000"/>
                </a:srgbClr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0555" y="4234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87171"/>
                  </a:solidFill>
                </a:rPr>
                <a:t>Anomaly</a:t>
              </a:r>
              <a:endParaRPr lang="en-US" sz="11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0555" y="4766"/>
              <a:ext cx="2851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20" dirty="0">
                  <a:solidFill>
                    <a:srgbClr val="B8C7DC"/>
                  </a:solidFill>
                </a:rPr>
                <a:t>IF • LOF • Hybrid score</a:t>
              </a:r>
              <a:endParaRPr lang="en-US" sz="72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5641975" y="3548380"/>
            <a:ext cx="704215" cy="475615"/>
          </a:xfrm>
          <a:prstGeom prst="line">
            <a:avLst/>
          </a:prstGeom>
          <a:noFill/>
          <a:ln w="15875">
            <a:solidFill>
              <a:srgbClr val="F87171"/>
            </a:solidFill>
            <a:prstDash val="solid"/>
            <a:headEnd type="none"/>
            <a:tailEnd type="triangle"/>
          </a:ln>
        </p:spPr>
      </p:sp>
      <p:grpSp>
        <p:nvGrpSpPr>
          <p:cNvPr id="53" name="Group 52"/>
          <p:cNvGrpSpPr/>
          <p:nvPr/>
        </p:nvGrpSpPr>
        <p:grpSpPr>
          <a:xfrm>
            <a:off x="6363970" y="5624195"/>
            <a:ext cx="2148840" cy="895350"/>
            <a:chOff x="14184" y="3960"/>
            <a:chExt cx="3384" cy="1410"/>
          </a:xfrm>
        </p:grpSpPr>
        <p:sp>
          <p:nvSpPr>
            <p:cNvPr id="32" name="Shape 30"/>
            <p:cNvSpPr/>
            <p:nvPr/>
          </p:nvSpPr>
          <p:spPr>
            <a:xfrm>
              <a:off x="14184" y="3960"/>
              <a:ext cx="3384" cy="1411"/>
            </a:xfrm>
            <a:prstGeom prst="roundRect">
              <a:avLst>
                <a:gd name="adj" fmla="val 8163"/>
              </a:avLst>
            </a:prstGeom>
            <a:solidFill>
              <a:srgbClr val="11213C"/>
            </a:solidFill>
            <a:ln w="12700">
              <a:solidFill>
                <a:srgbClr val="FBBF24">
                  <a:alpha val="75000"/>
                </a:srgbClr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4443" y="4234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BBF24"/>
                  </a:solidFill>
                </a:rPr>
                <a:t>Association Rules</a:t>
              </a:r>
              <a:endParaRPr lang="en-US" sz="115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6590157" y="6162929"/>
            <a:ext cx="1810512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B8C7DC"/>
                </a:solidFill>
              </a:rPr>
              <a:t>Support • Confidence • Lift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527675" y="4115435"/>
            <a:ext cx="817880" cy="1683385"/>
          </a:xfrm>
          <a:prstGeom prst="line">
            <a:avLst/>
          </a:prstGeom>
          <a:noFill/>
          <a:ln w="15875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45555" y="4453382"/>
            <a:ext cx="2148840" cy="896112"/>
          </a:xfrm>
          <a:prstGeom prst="roundRect">
            <a:avLst>
              <a:gd name="adj" fmla="val 8163"/>
            </a:avLst>
          </a:prstGeom>
          <a:solidFill>
            <a:srgbClr val="11213C"/>
          </a:solidFill>
          <a:ln w="12700">
            <a:solidFill>
              <a:srgbClr val="34D399">
                <a:alpha val="75000"/>
              </a:srgbClr>
            </a:solidFill>
            <a:prstDash val="solid"/>
          </a:ln>
        </p:spPr>
      </p:sp>
      <p:grpSp>
        <p:nvGrpSpPr>
          <p:cNvPr id="54" name="Group 53"/>
          <p:cNvGrpSpPr/>
          <p:nvPr/>
        </p:nvGrpSpPr>
        <p:grpSpPr>
          <a:xfrm>
            <a:off x="6439535" y="4617720"/>
            <a:ext cx="1828800" cy="502285"/>
            <a:chOff x="12499" y="6869"/>
            <a:chExt cx="2880" cy="791"/>
          </a:xfrm>
        </p:grpSpPr>
        <p:sp>
          <p:nvSpPr>
            <p:cNvPr id="37" name="Text 35"/>
            <p:cNvSpPr/>
            <p:nvPr/>
          </p:nvSpPr>
          <p:spPr>
            <a:xfrm>
              <a:off x="12499" y="6869"/>
              <a:ext cx="288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34D399"/>
                  </a:solidFill>
                </a:rPr>
                <a:t>Time Series</a:t>
              </a:r>
              <a:endParaRPr lang="en-US" sz="11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12499" y="7402"/>
              <a:ext cx="2851" cy="259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20" dirty="0">
                  <a:solidFill>
                    <a:srgbClr val="B8C7DC"/>
                  </a:solidFill>
                </a:rPr>
                <a:t>ARIMA forecasts</a:t>
              </a:r>
              <a:endParaRPr lang="en-US" sz="720" dirty="0"/>
            </a:p>
          </p:txBody>
        </p:sp>
      </p:grpSp>
      <p:sp>
        <p:nvSpPr>
          <p:cNvPr id="39" name="Shape 37"/>
          <p:cNvSpPr/>
          <p:nvPr/>
        </p:nvSpPr>
        <p:spPr>
          <a:xfrm>
            <a:off x="5641975" y="3868420"/>
            <a:ext cx="704215" cy="1252855"/>
          </a:xfrm>
          <a:prstGeom prst="line">
            <a:avLst/>
          </a:prstGeom>
          <a:noFill/>
          <a:ln w="15875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283065" y="3228340"/>
            <a:ext cx="2571750" cy="749935"/>
          </a:xfrm>
          <a:prstGeom prst="roundRect">
            <a:avLst>
              <a:gd name="adj" fmla="val 9756"/>
            </a:avLst>
          </a:prstGeom>
          <a:solidFill>
            <a:srgbClr val="1B2E4D"/>
          </a:solidFill>
          <a:ln w="12700">
            <a:solidFill>
              <a:srgbClr val="22D3EE">
                <a:alpha val="95000"/>
              </a:srgbClr>
            </a:solidFill>
            <a:prstDash val="solid"/>
          </a:ln>
        </p:spPr>
      </p:sp>
      <p:grpSp>
        <p:nvGrpSpPr>
          <p:cNvPr id="59" name="Group 58"/>
          <p:cNvGrpSpPr/>
          <p:nvPr/>
        </p:nvGrpSpPr>
        <p:grpSpPr>
          <a:xfrm>
            <a:off x="9646920" y="3356610"/>
            <a:ext cx="2743200" cy="447675"/>
            <a:chOff x="7488" y="8669"/>
            <a:chExt cx="4320" cy="705"/>
          </a:xfrm>
        </p:grpSpPr>
        <p:sp>
          <p:nvSpPr>
            <p:cNvPr id="41" name="Text 39"/>
            <p:cNvSpPr/>
            <p:nvPr/>
          </p:nvSpPr>
          <p:spPr>
            <a:xfrm>
              <a:off x="7488" y="8669"/>
              <a:ext cx="432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22D3EE"/>
                  </a:solidFill>
                </a:rPr>
                <a:t>Final LLM Country Report</a:t>
              </a:r>
              <a:endParaRPr lang="en-US" sz="11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7560" y="9144"/>
              <a:ext cx="3888" cy="230"/>
            </a:xfrm>
            <a:prstGeom prst="rect">
              <a:avLst/>
            </a:prstGeom>
            <a:noFill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730" dirty="0">
                  <a:solidFill>
                    <a:srgbClr val="B8C7DC"/>
                  </a:solidFill>
                </a:rPr>
                <a:t>single readable evidence-based summary</a:t>
              </a:r>
              <a:endParaRPr lang="en-US" sz="73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8512810" y="1784350"/>
            <a:ext cx="734695" cy="1873885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rot="17220000">
            <a:off x="5692140" y="2550795"/>
            <a:ext cx="574040" cy="518795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8512810" y="3804285"/>
            <a:ext cx="712470" cy="100330"/>
          </a:xfrm>
          <a:prstGeom prst="line">
            <a:avLst/>
          </a:prstGeom>
          <a:noFill/>
          <a:ln w="12700">
            <a:solidFill>
              <a:srgbClr val="F87171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 rot="17100000">
            <a:off x="7701280" y="5046345"/>
            <a:ext cx="2450465" cy="200025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8494395" y="3841750"/>
            <a:ext cx="753745" cy="108966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Yaqoob · ~30 sec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Preprocessing: making uploaded data algorithm-ready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The preprocessing page protects the rest of the system from messy formats and inconsistent structures.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1581912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682496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36192" y="15819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Detect structure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1591056"/>
            <a:ext cx="2148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Find country, code, year, and numerical indicators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77240" y="2459736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2624328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724912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36192" y="26243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Validate identifiers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2633472"/>
            <a:ext cx="2148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Ensure country/year panel is usable and not duplicated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77240" y="350215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3666744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767328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536192" y="366674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Handle missingness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29000" y="3675888"/>
            <a:ext cx="2148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Show missing % and choose fill/remove strategy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77240" y="454456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" y="4709160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809744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536192" y="470916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Clean data types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4718304"/>
            <a:ext cx="214884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Convert numeric columns and remove invalid values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355080" y="141732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158191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1682496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14032" y="15819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Outlier-safe scaling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006840" y="1591056"/>
            <a:ext cx="20574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Standard/robust scaling for comparable features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355080" y="2459736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65392" y="2624328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724912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6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114032" y="262432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Encoding options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006840" y="2633472"/>
            <a:ext cx="20574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Prepare categorical fields when needed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355080" y="3502152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65392" y="3666744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767328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114032" y="366674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Feature readiness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06840" y="3675888"/>
            <a:ext cx="20574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Separate identifiers from mining features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6355080" y="4544568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10213E"/>
          </a:solidFill>
          <a:ln w="12700">
            <a:solidFill>
              <a:srgbClr val="2B4B73">
                <a:alpha val="9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4709160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4809744"/>
            <a:ext cx="384048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71225"/>
                </a:solidFill>
              </a:rPr>
              <a:t>8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114032" y="470916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Session output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006840" y="4718304"/>
            <a:ext cx="2057400" cy="21945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B8C7DC"/>
                </a:solidFill>
              </a:rPr>
              <a:t>Store clean dataset for all following pages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154680" y="5632704"/>
            <a:ext cx="5897880" cy="457200"/>
          </a:xfrm>
          <a:prstGeom prst="roundRect">
            <a:avLst>
              <a:gd name="adj" fmla="val 16000"/>
            </a:avLst>
          </a:prstGeom>
          <a:solidFill>
            <a:srgbClr val="0F2A4B"/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5769864"/>
            <a:ext cx="5440680" cy="1188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D3EE"/>
                </a:solidFill>
              </a:rPr>
              <a:t>Key idea: algorithms do not work directly on messy tables; they need a reliable numeric analysis matrix.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Yaqoob · ~45 sec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 + PCA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Unsupervised Learning: grouping and mapping countries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997077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Clustering finds similar development profiles; PCA explains them visually in fewer dimensions.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0213E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642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</a:rPr>
              <a:t>K-Means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25603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8FAFC"/>
                </a:solidFill>
              </a:rPr>
              <a:t>Best when groups are compact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2697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7DC"/>
                </a:solidFill>
              </a:rPr>
              <a:t>Select K using elbow/silhouette and compare cluster profiles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0213E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642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</a:rPr>
              <a:t>DBSCAN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993392"/>
            <a:ext cx="25603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8FAFC"/>
                </a:solidFill>
              </a:rPr>
              <a:t>Best when density matters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2304288"/>
            <a:ext cx="2697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7DC"/>
                </a:solidFill>
              </a:rPr>
              <a:t>Tune ε and minPts; detects sparse countries as noise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7532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0213E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6642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</a:rPr>
              <a:t>Hierarchical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1993392"/>
            <a:ext cx="25603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8FAFC"/>
                </a:solidFill>
              </a:rPr>
              <a:t>Best for structure comparison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503920" y="2304288"/>
            <a:ext cx="269748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7DC"/>
                </a:solidFill>
              </a:rPr>
              <a:t>Choose linkage and number of clusters; useful for dendrogram logic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E1D38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3814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A5FA"/>
                </a:solidFill>
              </a:rPr>
              <a:t>Parameter Selection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382219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K-Means: compare inertia curve and silhouette-style quality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60120" y="418795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DBSCAN: explore eps/minPts to avoid all-noise or one-cluster results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960120" y="455371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Hierarchical: compare linkage choices and cluster count stability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63640" y="31546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0E1D38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43814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PCA Visual Interpretation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37960" y="382219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Compress many indicators into PC1 and PC2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537960" y="418795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Countries close on the PCA map have similar indicator profiles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537960" y="455371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Biplot vectors show which indicators influence separation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Bilal · ~60 sec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+ OUTLIERS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Detection and Association Rules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One module finds unusual countries; the other finds repeated relationships between indicator states.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10213E"/>
          </a:solidFill>
          <a:ln w="1270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0078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7171"/>
                </a:solidFill>
              </a:rPr>
              <a:t>Anomaly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2176272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87171"/>
          </a:solidFill>
          <a:ln w="12700">
            <a:solidFill>
              <a:srgbClr val="2B4B7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76856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Isolation Forest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78608" y="2249424"/>
            <a:ext cx="265176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F8FAFC"/>
                </a:solidFill>
              </a:rPr>
              <a:t>Isolates rare profiles through random feature splits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960120" y="3136392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BBF24"/>
          </a:solidFill>
          <a:ln w="12700">
            <a:solidFill>
              <a:srgbClr val="2B4B7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36976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LOF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78608" y="3209544"/>
            <a:ext cx="265176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F8FAFC"/>
                </a:solidFill>
              </a:rPr>
              <a:t>Compares each country to its local neighborhood density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60120" y="4096512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F472B6"/>
          </a:solidFill>
          <a:ln w="12700">
            <a:solidFill>
              <a:srgbClr val="2B4B7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Hybrid Score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78608" y="4169664"/>
            <a:ext cx="265176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F8FAFC"/>
                </a:solidFill>
              </a:rPr>
              <a:t>Combines agreement and anomaly scores for stronger confidence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10213E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70078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</a:rPr>
              <a:t>Association Rule Mining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2029968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116836"/>
            <a:ext cx="15087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71225"/>
                </a:solidFill>
              </a:rPr>
              <a:t>Discretize indicators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8275320" y="2080260"/>
            <a:ext cx="246888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8FAFC"/>
                </a:solidFill>
              </a:rPr>
              <a:t>Convert values into low / medium / high states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583680" y="2779776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866644"/>
            <a:ext cx="15087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71225"/>
                </a:solidFill>
              </a:rPr>
              <a:t>Apriori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8275320" y="2830068"/>
            <a:ext cx="246888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8FAFC"/>
                </a:solidFill>
              </a:rPr>
              <a:t>Find frequent combinations that appear across countries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583680" y="3529584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616452"/>
            <a:ext cx="15087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71225"/>
                </a:solidFill>
              </a:rPr>
              <a:t>Rule metrics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8275320" y="3579876"/>
            <a:ext cx="246888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8FAFC"/>
                </a:solidFill>
              </a:rPr>
              <a:t>Use support, confidence, and lift to judge usefulness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583680" y="4279392"/>
            <a:ext cx="1508760" cy="329184"/>
          </a:xfrm>
          <a:prstGeom prst="roundRect">
            <a:avLst>
              <a:gd name="adj" fmla="val 13889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66260"/>
            <a:ext cx="150876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71225"/>
                </a:solidFill>
              </a:rPr>
              <a:t>Insights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275320" y="4329684"/>
            <a:ext cx="246888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F8FAFC"/>
                </a:solidFill>
              </a:rPr>
              <a:t>Explain development relationships in readable form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6583680" y="5285232"/>
            <a:ext cx="420624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B8C7DC"/>
                </a:solidFill>
              </a:rPr>
              <a:t>Recommender note: the project uses a simplified recommendation logic based on similar profiles and indicator patterns, not a full collaborative-filtering recommender.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Mohammad · ~70 sec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Series Forecasting with ARIMA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The time-series page uses yearly country indicators to model past behavior and forecast future values.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0213E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719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</a:rPr>
              <a:t>ARIMA idea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87552" y="217627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AR: uses previous values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7552" y="257860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I: differencing for trend/non-stationarity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87552" y="298094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MA: uses previous forecast errors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87552" y="3703320"/>
            <a:ext cx="2450592" cy="5029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8C7DC"/>
                </a:solidFill>
              </a:rPr>
              <a:t>The app guides users toward simple settings such as ARIMA(1,1,1) when the series is not stationary.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4173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0213E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719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A5FA"/>
                </a:solidFill>
              </a:rPr>
              <a:t>Workflow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2121408"/>
            <a:ext cx="2331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8FAFC"/>
                </a:solidFill>
              </a:rPr>
              <a:t>1. Select country + indicator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754880" y="2596896"/>
            <a:ext cx="2331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</a:rPr>
              <a:t>2. Check historical yearly series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754880" y="3072384"/>
            <a:ext cx="2331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</a:rPr>
              <a:t>3. Choose ARIMA order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754880" y="3547872"/>
            <a:ext cx="2331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</a:rPr>
              <a:t>4. Generate fitted line + forecast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23317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F8FAFC"/>
                </a:solidFill>
              </a:rPr>
              <a:t>5. Download/interpret trend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138160" y="1417320"/>
            <a:ext cx="3200400" cy="4389120"/>
          </a:xfrm>
          <a:prstGeom prst="roundRect">
            <a:avLst>
              <a:gd name="adj" fmla="val 2286"/>
            </a:avLst>
          </a:prstGeom>
          <a:solidFill>
            <a:srgbClr val="10213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171907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Why it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94192" y="2176272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Adds a time dimension, not only one-year comparison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94192" y="2578608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Helps users see direction of change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94192" y="298094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</a:rPr>
              <a:t>• Supports future-focused country discussion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94192" y="3730752"/>
            <a:ext cx="2423160" cy="457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8C7DC"/>
                </a:solidFill>
              </a:rPr>
              <a:t>Forecasts are useful as decision support, but they should not be treated as guaranteed predictions.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Yaqoob · ~45 sec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INTEGRATION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Country Intelligence Report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The strongest feature: one page combines results from several mining techniques into a readable country profile.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32588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0213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600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Evidence collected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20116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Raw indicator values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69264" y="240487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Cluster membership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969264" y="2798064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Nearest similar countries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69264" y="319125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PCA position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969264" y="358444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Anomaly status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69264" y="39776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Rules + time trends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443984" y="132588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0213E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600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</a:rPr>
              <a:t>LLM role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0016" y="205740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Does not replace algorithms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700016" y="245059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Explains computed evidence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700016" y="2843784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Turns tables into readable insight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700016" y="3236976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Uses local fallback if AI fails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700016" y="3977640"/>
            <a:ext cx="2468880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B8C7DC"/>
                </a:solidFill>
              </a:rPr>
              <a:t>This keeps the report useful even when the model response is unavailable or unclear.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174736" y="132588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10213E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16002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</a:rPr>
              <a:t>User value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30768" y="205740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Compare countries quickly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430768" y="2450592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Understand why a country is unusual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430768" y="284378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Connect indicators to patterns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430768" y="3236976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8FAFC"/>
                </a:solidFill>
              </a:rPr>
              <a:t>• Get an explanation, not only a plot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3108960" y="5705856"/>
            <a:ext cx="5989320" cy="347472"/>
          </a:xfrm>
          <a:prstGeom prst="roundRect">
            <a:avLst>
              <a:gd name="adj" fmla="val 21053"/>
            </a:avLst>
          </a:prstGeom>
          <a:solidFill>
            <a:srgbClr val="0F2A4B"/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5815584"/>
            <a:ext cx="5486400" cy="914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2D3EE"/>
                </a:solidFill>
              </a:rPr>
              <a:t>Example demo path: choose a country → read cluster/PCA/anomaly evidence → generate final report.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Bilal · ~50 sec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THINKING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Future Work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The project is useful, but the results depend on data quality and correct interpretation.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10213E"/>
          </a:solidFill>
          <a:ln w="1270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190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7171"/>
                </a:solidFill>
              </a:rPr>
              <a:t>Current limitations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213055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Missing values can reduce indicator coverage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960120" y="2623693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Different countries may report indicators inconsistently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960120" y="3118104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PCA/clustering are sensitive to scaling and selected features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ARIMA forecasts are limited by short yearly history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960120" y="4105656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Simplified recommender is not a full recommendation system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10213E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71907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</a:rPr>
              <a:t>Creative future work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13055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Add reliability score for each country based on missingness and source quality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6629400" y="2624328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Interactive “what-if” simulation: change indicators and see cluster movement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6629400" y="3118104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Better model evaluation for clusters, anomalies, rules, and forecasts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6629400" y="3611880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Deploy online with saved projects and shareable reports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6629400" y="4105656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F8FAFC"/>
                </a:solidFill>
              </a:rPr>
              <a:t>• Add richer recommender based on user goals: education, economy, health, environment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40080" y="5797296"/>
            <a:ext cx="2103120" cy="32004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8613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71225"/>
                </a:solidFill>
              </a:rPr>
              <a:t>All · ~25 sec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-640080" y="-731520"/>
            <a:ext cx="2926080" cy="2926080"/>
          </a:xfrm>
          <a:prstGeom prst="arc">
            <a:avLst/>
          </a:prstGeom>
          <a:noFill/>
          <a:ln w="15240">
            <a:solidFill>
              <a:srgbClr val="60A5F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9875520" y="4754880"/>
            <a:ext cx="2926080" cy="2926080"/>
          </a:xfrm>
          <a:prstGeom prst="arc">
            <a:avLst/>
          </a:prstGeom>
          <a:noFill/>
          <a:ln w="1524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28232"/>
            <a:ext cx="59436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CLOSING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498080" y="6419088"/>
            <a:ext cx="4160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AE"/>
                </a:solidFill>
              </a:rPr>
              <a:t>World Development Intelligence  •  Group 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66928" y="411480"/>
            <a:ext cx="8046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90-Second Demo Path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896112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C"/>
                </a:solidFill>
              </a:rPr>
              <a:t>For the recorded demo, show the pipeline fast and spend the ending on the final report.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Home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project goal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984248" y="2386584"/>
            <a:ext cx="237744" cy="0"/>
          </a:xfrm>
          <a:prstGeom prst="line">
            <a:avLst/>
          </a:prstGeom>
          <a:noFill/>
          <a:ln w="1397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402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</a:rPr>
              <a:t>Build / Upload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00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data input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584448" y="2386584"/>
            <a:ext cx="237744" cy="0"/>
          </a:xfrm>
          <a:prstGeom prst="line">
            <a:avLst/>
          </a:prstGeom>
          <a:noFill/>
          <a:ln w="1397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0A5FA"/>
                </a:solidFill>
              </a:rPr>
              <a:t>Preprocess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clean matrix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184648" y="2386584"/>
            <a:ext cx="237744" cy="0"/>
          </a:xfrm>
          <a:prstGeom prst="line">
            <a:avLst/>
          </a:prstGeom>
          <a:noFill/>
          <a:ln w="1397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406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</a:rPr>
              <a:t>Cluster + PCA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504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main visuals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784848" y="2386584"/>
            <a:ext cx="237744" cy="0"/>
          </a:xfrm>
          <a:prstGeom prst="line">
            <a:avLst/>
          </a:prstGeom>
          <a:noFill/>
          <a:ln w="1397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408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</a:rPr>
              <a:t>Anomaly + Rules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506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patterns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8385048" y="2386584"/>
            <a:ext cx="237744" cy="0"/>
          </a:xfrm>
          <a:prstGeom prst="line">
            <a:avLst/>
          </a:prstGeom>
          <a:noFill/>
          <a:ln w="1397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410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F472B6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08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72B6"/>
                </a:solidFill>
              </a:rPr>
              <a:t>Time Series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508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forecast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9985248" y="2386584"/>
            <a:ext cx="237744" cy="0"/>
          </a:xfrm>
          <a:prstGeom prst="line">
            <a:avLst/>
          </a:prstGeom>
          <a:noFill/>
          <a:ln w="13970">
            <a:solidFill>
              <a:srgbClr val="7890A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241280" y="187452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0213E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51008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</a:rPr>
              <a:t>Final Report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351008" y="2468880"/>
            <a:ext cx="1078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B8C7DC"/>
                </a:solidFill>
              </a:rPr>
              <a:t>strongest feature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14400" y="370332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0E1D38"/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397764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</a:rPr>
              <a:t>Closing message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17520" y="3886200"/>
            <a:ext cx="7635240" cy="47548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</a:rPr>
              <a:t>“The system helps users move from raw country indicators to clear data mining insights: similarity, dimensionality reduction, anomalies, rules, forecasts, and an integrated country report.”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0" y="5577840"/>
            <a:ext cx="1218895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8FAFC"/>
                </a:solidFill>
              </a:rPr>
              <a:t>Thank you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8040</Words>
  <Application>WPS Presentation</Application>
  <PresentationFormat>On-screen Show (16:9)</PresentationFormat>
  <Paragraphs>493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Aptos Display</vt:lpstr>
      <vt:lpstr>Helvetica Neue</vt:lpstr>
      <vt:lpstr>Aptos Display</vt:lpstr>
      <vt:lpstr>Aptos Display</vt:lpstr>
      <vt:lpstr>Aptos</vt:lpstr>
      <vt:lpstr>Aptos</vt:lpstr>
      <vt:lpstr>Aptos</vt:lpstr>
      <vt:lpstr>Microsoft YaHei</vt:lpstr>
      <vt:lpstr>汉仪旗黑</vt:lpstr>
      <vt:lpstr>Arial Unicode MS</vt:lpstr>
      <vt:lpstr>Calibri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Group 11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Development Intelligence</dc:title>
  <dc:creator>Bilal Anabosi</dc:creator>
  <dc:subject>World Development Intelligence - Technical Presentation</dc:subject>
  <cp:lastModifiedBy>Bilal Anabosi</cp:lastModifiedBy>
  <cp:revision>2</cp:revision>
  <dcterms:created xsi:type="dcterms:W3CDTF">2026-05-17T19:49:15Z</dcterms:created>
  <dcterms:modified xsi:type="dcterms:W3CDTF">2026-05-17T19:49:15Z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FFADFEE8F02AB363BB1B0A6ACCA807FD_42</vt:lpwstr>
  </property>
  <property fmtid="{D5CDD505-2E9C-101B-9397-08002B2CF9AE}" pid="3" name="KSOProductBuildVer">
    <vt:lpwstr>1033-12.1.25895.25895</vt:lpwstr>
  </property>
</Properties>
</file>